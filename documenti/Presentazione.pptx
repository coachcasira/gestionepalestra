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67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24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81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863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772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768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994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463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87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11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301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DB059-26C6-4676-B495-59E7534F30BD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01862B6-6C9F-409E-8E38-53922FBE40C4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57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1D1FBF-E2D1-4628-F39A-4F18B6CB2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746" y="406400"/>
            <a:ext cx="11631540" cy="2387600"/>
          </a:xfrm>
        </p:spPr>
        <p:txBody>
          <a:bodyPr>
            <a:normAutofit/>
          </a:bodyPr>
          <a:lstStyle/>
          <a:p>
            <a:r>
              <a:rPr lang="it-IT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PROGETTO INGEGNERIA DEL SOFTWARE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E179F0-BCB7-72BC-60D3-86B0FD561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746" y="2939144"/>
            <a:ext cx="8676222" cy="3222170"/>
          </a:xfrm>
        </p:spPr>
        <p:txBody>
          <a:bodyPr>
            <a:normAutofit fontScale="92500" lnSpcReduction="20000"/>
          </a:bodyPr>
          <a:lstStyle/>
          <a:p>
            <a:endParaRPr lang="it-IT" sz="3200" i="1" dirty="0">
              <a:latin typeface="Grotesque" panose="020F0502020204030204" pitchFamily="34" charset="0"/>
            </a:endParaRPr>
          </a:p>
          <a:p>
            <a:r>
              <a:rPr lang="it-IT" sz="3200" i="1" dirty="0">
                <a:latin typeface="Amasis MT Pro Black" panose="02040A04050005020304" pitchFamily="18" charset="0"/>
              </a:rPr>
              <a:t>Gestione Palestra</a:t>
            </a:r>
          </a:p>
          <a:p>
            <a:endParaRPr lang="it-IT" i="1" dirty="0">
              <a:latin typeface="Grotesque" panose="020F0502020204030204" pitchFamily="34" charset="0"/>
            </a:endParaRPr>
          </a:p>
          <a:p>
            <a:endParaRPr lang="it-IT" i="1" dirty="0">
              <a:latin typeface="Grotesque" panose="020F0502020204030204" pitchFamily="34" charset="0"/>
            </a:endParaRPr>
          </a:p>
          <a:p>
            <a:r>
              <a:rPr lang="it-IT" dirty="0">
                <a:latin typeface="+mn-lt"/>
              </a:rPr>
              <a:t>Matteo Casiraghi 1092288</a:t>
            </a:r>
          </a:p>
          <a:p>
            <a:r>
              <a:rPr lang="it-IT" dirty="0">
                <a:latin typeface="+mn-lt"/>
              </a:rPr>
              <a:t>Alberto Barcella 1092001</a:t>
            </a:r>
          </a:p>
          <a:p>
            <a:r>
              <a:rPr lang="it-IT" dirty="0">
                <a:latin typeface="+mn-lt"/>
              </a:rPr>
              <a:t>Oscar Benigni 1075319</a:t>
            </a:r>
          </a:p>
        </p:txBody>
      </p:sp>
    </p:spTree>
    <p:extLst>
      <p:ext uri="{BB962C8B-B14F-4D97-AF65-F5344CB8AC3E}">
        <p14:creationId xmlns:p14="http://schemas.microsoft.com/office/powerpoint/2010/main" val="1052036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465E87-CBC0-28C0-18B1-5836E652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97318"/>
            <a:ext cx="10058400" cy="844731"/>
          </a:xfrm>
        </p:spPr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Obiettivo: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476BE5-DC7E-041C-D299-D9E66EAF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028"/>
            <a:ext cx="10058400" cy="4062065"/>
          </a:xfrm>
        </p:spPr>
        <p:txBody>
          <a:bodyPr>
            <a:normAutofit fontScale="92500" lnSpcReduction="10000"/>
          </a:bodyPr>
          <a:lstStyle/>
          <a:p>
            <a:r>
              <a:rPr lang="it-IT" sz="2800" dirty="0"/>
              <a:t>Sviluppo di un’applicazione dedicata ai clienti della palestra che consenta loro di: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800" dirty="0"/>
              <a:t> gestire l’iscrizione e l’abbonamento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800" dirty="0"/>
              <a:t> prenotare corsi e </a:t>
            </a:r>
            <a:r>
              <a:rPr lang="it-IT" sz="2800" dirty="0" err="1"/>
              <a:t>consoluenze</a:t>
            </a:r>
            <a:r>
              <a:rPr lang="it-IT" sz="2800" dirty="0"/>
              <a:t> con specialisti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800" dirty="0"/>
              <a:t> gestire la scheda di allenamento.</a:t>
            </a:r>
          </a:p>
          <a:p>
            <a:pPr>
              <a:buFont typeface="Wingdings" panose="05000000000000000000" pitchFamily="2" charset="2"/>
              <a:buChar char="§"/>
            </a:pPr>
            <a:endParaRPr lang="it-IT" sz="2800" dirty="0"/>
          </a:p>
          <a:p>
            <a:pPr marL="0" indent="0">
              <a:buNone/>
            </a:pPr>
            <a:r>
              <a:rPr lang="it-IT" sz="2800" dirty="0"/>
              <a:t>Tutto ciò è fatto per centralizzare le attività e ridurre le interazioni con il personale amministrativo allo sportello fisico e rendere il tutto più automatico.</a:t>
            </a:r>
          </a:p>
          <a:p>
            <a:pPr>
              <a:buFont typeface="Wingdings" panose="05000000000000000000" pitchFamily="2" charset="2"/>
              <a:buChar char="§"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090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652B0E-6521-4F35-DA1E-CDCED77E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Difficoltà incontrate: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7D7084-F7F8-7093-4EDA-3194E6074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600" dirty="0"/>
              <a:t>La difficoltà principale è stata la comprensione di </a:t>
            </a:r>
            <a:r>
              <a:rPr lang="it-IT" sz="2600" dirty="0" err="1"/>
              <a:t>Papyrus</a:t>
            </a:r>
            <a:r>
              <a:rPr lang="it-IT" sz="2600" dirty="0"/>
              <a:t>, dei suoi tools, la generazione del codice e come fare ogni diagramma UML tutti diversi tra loro. </a:t>
            </a:r>
          </a:p>
          <a:p>
            <a:pPr marL="0" indent="0">
              <a:buNone/>
            </a:pPr>
            <a:r>
              <a:rPr lang="it-IT" sz="2600" dirty="0"/>
              <a:t>Difficoltà minore è stato il coordinamento a distanza del Team cercando di far combaciare gli impegni di ognuno con il lavoro assegnato e le riunioni periodiche.</a:t>
            </a:r>
          </a:p>
        </p:txBody>
      </p:sp>
    </p:spTree>
    <p:extLst>
      <p:ext uri="{BB962C8B-B14F-4D97-AF65-F5344CB8AC3E}">
        <p14:creationId xmlns:p14="http://schemas.microsoft.com/office/powerpoint/2010/main" val="132257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07D7FF-3802-CEBD-B144-F53EAB0E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Paradigmi e Tools: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DEBD7E-CA0E-DD7D-D6A2-9FDC0296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94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600" dirty="0"/>
              <a:t>Per l’applicazione è stato usato il paradigma di programmazione ad oggetti, usando come  linguaggio: </a:t>
            </a:r>
            <a:r>
              <a:rPr lang="it-IT" sz="2600" i="1" dirty="0"/>
              <a:t>Java.</a:t>
            </a:r>
          </a:p>
          <a:p>
            <a:pPr marL="0" indent="0">
              <a:buNone/>
            </a:pPr>
            <a:r>
              <a:rPr lang="it-IT" sz="2600" dirty="0"/>
              <a:t>Per la modellazione si sono usati i vari diagrammi UML visti a lezione, modellati con </a:t>
            </a:r>
            <a:r>
              <a:rPr lang="it-IT" sz="2600" i="1" dirty="0" err="1"/>
              <a:t>Papyrus</a:t>
            </a:r>
            <a:r>
              <a:rPr lang="it-IT" sz="2600" i="1" dirty="0"/>
              <a:t>,</a:t>
            </a:r>
            <a:r>
              <a:rPr lang="it-IT" sz="2600" dirty="0"/>
              <a:t> per rappresentare il contesto nelle varie sfaccettature</a:t>
            </a:r>
          </a:p>
          <a:p>
            <a:pPr marL="0" indent="0">
              <a:buNone/>
            </a:pPr>
            <a:r>
              <a:rPr lang="it-IT" sz="2600" dirty="0"/>
              <a:t>Nei Tools figurano: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Eclipse: </a:t>
            </a:r>
            <a:r>
              <a:rPr lang="it-IT" sz="2600" dirty="0"/>
              <a:t>come ambiente di sviluppo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Maven: </a:t>
            </a:r>
            <a:r>
              <a:rPr lang="it-IT" sz="2600" dirty="0"/>
              <a:t>per le dipendenze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Microsoft Teams, Whatsapp: </a:t>
            </a:r>
            <a:r>
              <a:rPr lang="it-IT" sz="2600" dirty="0"/>
              <a:t>per la comunicazione e riunioni </a:t>
            </a:r>
          </a:p>
        </p:txBody>
      </p:sp>
    </p:spTree>
    <p:extLst>
      <p:ext uri="{BB962C8B-B14F-4D97-AF65-F5344CB8AC3E}">
        <p14:creationId xmlns:p14="http://schemas.microsoft.com/office/powerpoint/2010/main" val="341918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B924C6-02B9-007C-0230-CB6D9788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Software 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configuration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managemet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1E2786-8747-5C2E-7983-291043BD0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600" dirty="0"/>
              <a:t>Uso di </a:t>
            </a:r>
            <a:r>
              <a:rPr lang="it-IT" sz="2600" i="1" dirty="0"/>
              <a:t>GitHub. </a:t>
            </a:r>
            <a:r>
              <a:rPr lang="it-IT" sz="2600" dirty="0"/>
              <a:t>Il Repository centrale contiene il codice e i documenti, </a:t>
            </a:r>
            <a:r>
              <a:rPr lang="it-IT" sz="2600" dirty="0" err="1"/>
              <a:t>Issue</a:t>
            </a:r>
            <a:r>
              <a:rPr lang="it-IT" sz="2600" dirty="0"/>
              <a:t> per l’assegnazione dei task e le revisioni. </a:t>
            </a:r>
          </a:p>
          <a:p>
            <a:pPr marL="0" indent="0">
              <a:buNone/>
            </a:pPr>
            <a:r>
              <a:rPr lang="it-IT" sz="2600" dirty="0"/>
              <a:t>Grazie ai comandi </a:t>
            </a:r>
            <a:r>
              <a:rPr lang="it-IT" sz="2600" dirty="0" err="1"/>
              <a:t>Git</a:t>
            </a:r>
            <a:r>
              <a:rPr lang="it-IT" sz="2600" dirty="0"/>
              <a:t> è stato possibile modificare il codice (</a:t>
            </a:r>
            <a:r>
              <a:rPr lang="it-IT" sz="2600" i="1" dirty="0" err="1"/>
              <a:t>commit</a:t>
            </a:r>
            <a:r>
              <a:rPr lang="it-IT" sz="2600" dirty="0"/>
              <a:t>), salvare le modifiche e salvare sul server remoto di </a:t>
            </a:r>
            <a:r>
              <a:rPr lang="it-IT" sz="2600" dirty="0" err="1"/>
              <a:t>git</a:t>
            </a:r>
            <a:r>
              <a:rPr lang="it-IT" sz="2600" dirty="0"/>
              <a:t> (</a:t>
            </a:r>
            <a:r>
              <a:rPr lang="it-IT" sz="2600" i="1" dirty="0" err="1"/>
              <a:t>push</a:t>
            </a:r>
            <a:r>
              <a:rPr lang="it-IT" sz="2600" dirty="0"/>
              <a:t>) per mostrarle e farle aggiungere al lavoro degli altri componenti del team (</a:t>
            </a:r>
            <a:r>
              <a:rPr lang="it-IT" sz="2600" i="1" dirty="0"/>
              <a:t>pull</a:t>
            </a:r>
            <a:r>
              <a:rPr lang="it-IT" sz="26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7760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25AA52-6D8B-C2BC-E192-02B8DAF6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Software life </a:t>
            </a:r>
            <a:r>
              <a:rPr lang="it-I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cycle</a:t>
            </a:r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BC4A87-5401-4D43-0A9E-D1C714FF6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600" dirty="0"/>
              <a:t>È stato seguito il modello RUP, iterativo e incrementale adatto allo sviluppo del processo, composto da 4 fasi: </a:t>
            </a:r>
          </a:p>
          <a:p>
            <a:endParaRPr lang="it-IT" sz="2600" dirty="0"/>
          </a:p>
          <a:p>
            <a:pPr marL="457200" indent="-457200">
              <a:buFont typeface="+mj-lt"/>
              <a:buAutoNum type="arabicPeriod"/>
            </a:pPr>
            <a:r>
              <a:rPr lang="it-IT" sz="2600" i="1" dirty="0" err="1"/>
              <a:t>Inception</a:t>
            </a:r>
            <a:r>
              <a:rPr lang="it-IT" sz="2600" i="1" dirty="0"/>
              <a:t>: </a:t>
            </a:r>
            <a:r>
              <a:rPr lang="it-IT" sz="2600" dirty="0"/>
              <a:t>definito obiettivi, requisiti e rischi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 err="1"/>
              <a:t>Elaboration</a:t>
            </a:r>
            <a:r>
              <a:rPr lang="it-IT" sz="2600" i="1" dirty="0"/>
              <a:t>: </a:t>
            </a:r>
            <a:r>
              <a:rPr lang="it-IT" sz="2600" dirty="0"/>
              <a:t>definire l’architettura e diagrammi UML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/>
              <a:t>Construction: </a:t>
            </a:r>
            <a:r>
              <a:rPr lang="it-IT" sz="2600" dirty="0"/>
              <a:t>sviluppo codice, integrazione e test di unità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 err="1"/>
              <a:t>Transition</a:t>
            </a:r>
            <a:r>
              <a:rPr lang="it-IT" sz="2600" i="1" dirty="0"/>
              <a:t>: </a:t>
            </a:r>
            <a:r>
              <a:rPr lang="it-IT" sz="2600" dirty="0"/>
              <a:t>rifinitura, stesura documentazione finale e rilascio</a:t>
            </a:r>
          </a:p>
        </p:txBody>
      </p:sp>
    </p:spTree>
    <p:extLst>
      <p:ext uri="{BB962C8B-B14F-4D97-AF65-F5344CB8AC3E}">
        <p14:creationId xmlns:p14="http://schemas.microsoft.com/office/powerpoint/2010/main" val="249540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964C6E-BF61-45C8-C5E9-7655D3BF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Requisiti: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C2EA07-DA32-A3C7-CDF6-B316FC45C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Elicitiati</a:t>
            </a:r>
            <a:r>
              <a:rPr lang="it-IT" dirty="0"/>
              <a:t> tramite brainstorming e confronto continuo con il Team, dividendo tra </a:t>
            </a:r>
            <a:r>
              <a:rPr lang="it-IT" i="1" dirty="0"/>
              <a:t>funzionali </a:t>
            </a:r>
            <a:r>
              <a:rPr lang="it-IT" dirty="0"/>
              <a:t>(ciò che l’applicazione deve fare) e </a:t>
            </a:r>
            <a:r>
              <a:rPr lang="it-IT" i="1" dirty="0"/>
              <a:t>non funzionali </a:t>
            </a:r>
            <a:r>
              <a:rPr lang="it-IT" dirty="0"/>
              <a:t>(efficienza, portabilità, estendibilità…). </a:t>
            </a:r>
          </a:p>
          <a:p>
            <a:r>
              <a:rPr lang="it-IT" dirty="0"/>
              <a:t>Classificati seguendo modello </a:t>
            </a:r>
            <a:r>
              <a:rPr lang="it-IT" dirty="0" err="1"/>
              <a:t>MoSCoW</a:t>
            </a:r>
            <a:r>
              <a:rPr lang="it-IT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Must </a:t>
            </a:r>
            <a:r>
              <a:rPr lang="it-IT" dirty="0" err="1"/>
              <a:t>Have</a:t>
            </a:r>
            <a:r>
              <a:rPr lang="it-IT" dirty="0"/>
              <a:t>: gestione abbonamenti, login, prenotazione corsi e consulenze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</a:t>
            </a:r>
            <a:r>
              <a:rPr lang="it-IT" dirty="0" err="1"/>
              <a:t>Schould</a:t>
            </a:r>
            <a:r>
              <a:rPr lang="it-IT" dirty="0"/>
              <a:t>: gestione </a:t>
            </a:r>
            <a:r>
              <a:rPr lang="it-IT" dirty="0" err="1"/>
              <a:t>scehda</a:t>
            </a:r>
            <a:r>
              <a:rPr lang="it-IT" dirty="0"/>
              <a:t> allenamento e storico pagamenti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: moduli per statistiche allenamento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</a:t>
            </a:r>
            <a:r>
              <a:rPr lang="it-IT" dirty="0" err="1"/>
              <a:t>Won’t</a:t>
            </a:r>
            <a:r>
              <a:rPr lang="it-IT" dirty="0"/>
              <a:t>: accesso tramite QR code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453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FF1C2E-4985-3308-8A31-3D254EF5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Architettura: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7B8D2A-5055-13F6-3E4E-194F1611E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600" dirty="0"/>
              <a:t>È stato seguito lo stile architettonico MVC (</a:t>
            </a:r>
            <a:r>
              <a:rPr lang="it-IT" sz="2600" i="1" dirty="0"/>
              <a:t>Model </a:t>
            </a:r>
            <a:r>
              <a:rPr lang="it-IT" sz="2600" i="1" dirty="0" err="1"/>
              <a:t>View</a:t>
            </a:r>
            <a:r>
              <a:rPr lang="it-IT" sz="2600" i="1" dirty="0"/>
              <a:t> Controller</a:t>
            </a:r>
            <a:r>
              <a:rPr lang="it-IT" sz="2600" dirty="0"/>
              <a:t>) cosicché vengano separata l’applicazione in tre parti: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/>
              <a:t>Model: </a:t>
            </a:r>
            <a:r>
              <a:rPr lang="it-IT" sz="2600" dirty="0"/>
              <a:t>logica del business, indipendente dalla grafica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 err="1"/>
              <a:t>View</a:t>
            </a:r>
            <a:r>
              <a:rPr lang="it-IT" sz="2600" i="1" dirty="0"/>
              <a:t>: </a:t>
            </a:r>
            <a:r>
              <a:rPr lang="it-IT" sz="2600" dirty="0"/>
              <a:t>interfaccia utente con </a:t>
            </a:r>
            <a:r>
              <a:rPr lang="it-IT" sz="2600" i="1" dirty="0"/>
              <a:t>Java Swing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600" i="1" dirty="0"/>
              <a:t>Controller: </a:t>
            </a:r>
            <a:r>
              <a:rPr lang="it-IT" sz="2600" dirty="0"/>
              <a:t>gestione eventi e coordinamento tra Model e Vi</a:t>
            </a:r>
          </a:p>
          <a:p>
            <a:pPr marL="0" indent="0">
              <a:buNone/>
            </a:pPr>
            <a:r>
              <a:rPr lang="it-IT" sz="2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62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932E4-9B02-E627-3F20-7FF467CB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Pattern e metriche: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56BFD1-BB36-080B-7075-D281A7C7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600" dirty="0"/>
              <a:t>Per il metodo che crea l’abbonamento in base al tipo scelto è stato usato il </a:t>
            </a:r>
            <a:r>
              <a:rPr lang="it-IT" sz="2600" i="1" dirty="0" err="1"/>
              <a:t>Factory</a:t>
            </a:r>
            <a:r>
              <a:rPr lang="it-IT" sz="2600" i="1" dirty="0"/>
              <a:t> Pattern</a:t>
            </a:r>
            <a:r>
              <a:rPr lang="it-IT" sz="2600" dirty="0"/>
              <a:t>, abbassando così l’accoppiamento del Controller dalle sottoclassi concrete che creano l’abbonamento.</a:t>
            </a:r>
          </a:p>
          <a:p>
            <a:r>
              <a:rPr lang="it-IT" sz="2600" dirty="0"/>
              <a:t>Le metriche considerate sono: accoppiamento, coesione, </a:t>
            </a:r>
            <a:r>
              <a:rPr lang="it-IT" sz="2600" dirty="0" err="1"/>
              <a:t>complessit</a:t>
            </a:r>
            <a:r>
              <a:rPr lang="it-IT" sz="2600" dirty="0"/>
              <a:t>, tramite </a:t>
            </a:r>
            <a:r>
              <a:rPr lang="it-IT" sz="2600" i="1" dirty="0"/>
              <a:t>Stan4J</a:t>
            </a:r>
            <a:r>
              <a:rPr lang="it-IT" sz="2600" dirty="0"/>
              <a:t> per evitare dipendenze cicliche e classi troppo pesanti, e copertura per la quale è stato utile il tool </a:t>
            </a:r>
            <a:r>
              <a:rPr lang="it-IT" sz="2600" i="1" dirty="0" err="1"/>
              <a:t>EclEmma</a:t>
            </a:r>
            <a:r>
              <a:rPr lang="it-IT" sz="2600" dirty="0"/>
              <a:t> di Eclipse, che fornisce una </a:t>
            </a:r>
            <a:r>
              <a:rPr lang="it-IT" sz="2600" dirty="0" err="1"/>
              <a:t>visulale</a:t>
            </a:r>
            <a:r>
              <a:rPr lang="it-IT" sz="2600" dirty="0"/>
              <a:t> intuitiva di percentuali di copertura dei test sulle classi</a:t>
            </a:r>
          </a:p>
        </p:txBody>
      </p:sp>
    </p:spTree>
    <p:extLst>
      <p:ext uri="{BB962C8B-B14F-4D97-AF65-F5344CB8AC3E}">
        <p14:creationId xmlns:p14="http://schemas.microsoft.com/office/powerpoint/2010/main" val="2287233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7A0135-BA3C-34E7-FC6A-FF3E8CAE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Modellazione: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FECAAF-46C1-E1E4-2816-5F8F9986F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5734"/>
            <a:ext cx="10058400" cy="4023360"/>
          </a:xfrm>
        </p:spPr>
        <p:txBody>
          <a:bodyPr>
            <a:normAutofit/>
          </a:bodyPr>
          <a:lstStyle/>
          <a:p>
            <a:r>
              <a:rPr lang="it-IT" sz="2600" dirty="0"/>
              <a:t>Tutti i diagrammi UML visti a lezione, tra cui i più utili, inizialmente, sono stati: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Use Case </a:t>
            </a:r>
            <a:r>
              <a:rPr lang="it-IT" sz="2600" i="1" dirty="0" err="1"/>
              <a:t>Diagram</a:t>
            </a:r>
            <a:r>
              <a:rPr lang="it-IT" sz="2600" i="1" dirty="0"/>
              <a:t>: </a:t>
            </a:r>
            <a:r>
              <a:rPr lang="it-IT" sz="2600" dirty="0"/>
              <a:t>per i requisiti funzionali e capire le azioni dei vari attori coinvolti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Class </a:t>
            </a:r>
            <a:r>
              <a:rPr lang="it-IT" sz="2600" i="1" dirty="0" err="1"/>
              <a:t>Diagram</a:t>
            </a:r>
            <a:r>
              <a:rPr lang="it-IT" sz="2600" i="1" dirty="0"/>
              <a:t>: </a:t>
            </a:r>
            <a:r>
              <a:rPr lang="it-IT" sz="2600" dirty="0"/>
              <a:t>per la struttura statica e le relazioni tra le entità.</a:t>
            </a:r>
          </a:p>
          <a:p>
            <a:pPr marL="0" indent="0">
              <a:buNone/>
            </a:pPr>
            <a:r>
              <a:rPr lang="it-IT" sz="2600" dirty="0"/>
              <a:t>Oltre a questi sono fatti diagramma delle attività, temporale, di sequenza, comunicazione, dei package, dei componenti.</a:t>
            </a:r>
          </a:p>
          <a:p>
            <a:pPr marL="0" indent="0">
              <a:buNone/>
            </a:pPr>
            <a:endParaRPr lang="it-IT" sz="2600" dirty="0"/>
          </a:p>
        </p:txBody>
      </p:sp>
    </p:spTree>
    <p:extLst>
      <p:ext uri="{BB962C8B-B14F-4D97-AF65-F5344CB8AC3E}">
        <p14:creationId xmlns:p14="http://schemas.microsoft.com/office/powerpoint/2010/main" val="347752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785210-3BD0-8386-D0D0-E7D5CA1A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Implementazione: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E90CCA-81CE-B86B-5A93-75A12F5E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</a:t>
            </a:r>
            <a:r>
              <a:rPr lang="it-IT" sz="2600" dirty="0"/>
              <a:t>Applicazione realizzata in linguaggio </a:t>
            </a:r>
            <a:r>
              <a:rPr lang="it-IT" sz="2600" i="1" dirty="0"/>
              <a:t>Java</a:t>
            </a:r>
            <a:r>
              <a:rPr lang="it-IT" sz="2600" dirty="0"/>
              <a:t> per la portabilità, generato inizialmente dal Class </a:t>
            </a:r>
            <a:r>
              <a:rPr lang="it-IT" sz="2600" dirty="0" err="1"/>
              <a:t>Diagram</a:t>
            </a:r>
            <a:r>
              <a:rPr lang="it-IT" sz="2600" dirty="0"/>
              <a:t> di </a:t>
            </a:r>
            <a:r>
              <a:rPr lang="it-IT" sz="2600" dirty="0" err="1"/>
              <a:t>Papyrus</a:t>
            </a:r>
            <a:r>
              <a:rPr lang="it-IT" sz="2600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Libreria </a:t>
            </a:r>
            <a:r>
              <a:rPr lang="it-IT" sz="2600" i="1" dirty="0"/>
              <a:t>log4j </a:t>
            </a:r>
            <a:r>
              <a:rPr lang="it-IT" sz="2600" dirty="0"/>
              <a:t>usata per il </a:t>
            </a:r>
            <a:r>
              <a:rPr lang="it-IT" sz="2600" dirty="0" err="1"/>
              <a:t>logging</a:t>
            </a:r>
            <a:r>
              <a:rPr lang="it-IT" sz="2600" dirty="0"/>
              <a:t> e i messaggi di debug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600" dirty="0"/>
              <a:t> </a:t>
            </a:r>
            <a:r>
              <a:rPr lang="it-IT" sz="2600" i="1" dirty="0"/>
              <a:t>Java Swing </a:t>
            </a:r>
            <a:r>
              <a:rPr lang="it-IT" sz="2600" dirty="0"/>
              <a:t>per la grafica dell’applicazione</a:t>
            </a:r>
          </a:p>
        </p:txBody>
      </p:sp>
    </p:spTree>
    <p:extLst>
      <p:ext uri="{BB962C8B-B14F-4D97-AF65-F5344CB8AC3E}">
        <p14:creationId xmlns:p14="http://schemas.microsoft.com/office/powerpoint/2010/main" val="241038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02F3E7-D5CD-18E5-7BF4-23529ABF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Testing: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3B08B2-F087-594E-D393-03C92770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600" dirty="0"/>
              <a:t>Basato su test di unità automatici con focus sul package Model contenente la logica e dati veri e propri, mediante</a:t>
            </a:r>
            <a:r>
              <a:rPr lang="it-IT" sz="2600" i="1" dirty="0"/>
              <a:t> </a:t>
            </a:r>
            <a:r>
              <a:rPr lang="it-IT" sz="2600" i="1" dirty="0" err="1"/>
              <a:t>JUnit</a:t>
            </a:r>
            <a:r>
              <a:rPr lang="it-IT" sz="2600" i="1" dirty="0"/>
              <a:t> </a:t>
            </a:r>
            <a:r>
              <a:rPr lang="it-IT" sz="2600" dirty="0"/>
              <a:t>per l’esecuzione dei test ed </a:t>
            </a:r>
            <a:r>
              <a:rPr lang="it-IT" sz="2600" i="1" dirty="0" err="1"/>
              <a:t>EclEmma</a:t>
            </a:r>
            <a:r>
              <a:rPr lang="it-IT" sz="2600" dirty="0"/>
              <a:t> per testare la copertura del codice.</a:t>
            </a:r>
          </a:p>
          <a:p>
            <a:r>
              <a:rPr lang="it-IT" sz="2600" dirty="0"/>
              <a:t>Evidenziando alta copertura </a:t>
            </a:r>
            <a:r>
              <a:rPr lang="it-IT" sz="2600" i="1" dirty="0"/>
              <a:t>(&gt;95%) </a:t>
            </a:r>
            <a:r>
              <a:rPr lang="it-IT" sz="2600" dirty="0"/>
              <a:t>sulle classi principali </a:t>
            </a:r>
            <a:r>
              <a:rPr lang="it-IT" sz="2600" i="1" dirty="0"/>
              <a:t>(Cliente e Abbonamento) </a:t>
            </a:r>
            <a:r>
              <a:rPr lang="it-IT" sz="2600" dirty="0"/>
              <a:t>e nulla sulle classi non testate ed usate nella logica </a:t>
            </a:r>
            <a:r>
              <a:rPr lang="it-IT" sz="2600" i="1" dirty="0"/>
              <a:t>(Sala)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23599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720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ADLaM Display</vt:lpstr>
      <vt:lpstr>Amasis MT Pro Black</vt:lpstr>
      <vt:lpstr>Calibri</vt:lpstr>
      <vt:lpstr>Calibri Light</vt:lpstr>
      <vt:lpstr>Grotesque</vt:lpstr>
      <vt:lpstr>Wingdings</vt:lpstr>
      <vt:lpstr>Retrospettivo</vt:lpstr>
      <vt:lpstr>PROGETTO INGEGNERIA DEL SOFTWARE</vt:lpstr>
      <vt:lpstr>Obiettivo:</vt:lpstr>
      <vt:lpstr>Difficoltà incontrate:</vt:lpstr>
      <vt:lpstr>Paradigmi e Tools:</vt:lpstr>
      <vt:lpstr>Software configuration managemet:</vt:lpstr>
      <vt:lpstr>Software life cycle:</vt:lpstr>
      <vt:lpstr>Requisiti:</vt:lpstr>
      <vt:lpstr>Architettura:</vt:lpstr>
      <vt:lpstr>Design Pattern e metriche:</vt:lpstr>
      <vt:lpstr>Modellazione:</vt:lpstr>
      <vt:lpstr>Implementazione:</vt:lpstr>
      <vt:lpstr>Testing: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benigni</dc:creator>
  <cp:lastModifiedBy>Riccardo</cp:lastModifiedBy>
  <cp:revision>8</cp:revision>
  <dcterms:created xsi:type="dcterms:W3CDTF">2026-01-22T15:15:22Z</dcterms:created>
  <dcterms:modified xsi:type="dcterms:W3CDTF">2026-01-22T17:28:57Z</dcterms:modified>
</cp:coreProperties>
</file>